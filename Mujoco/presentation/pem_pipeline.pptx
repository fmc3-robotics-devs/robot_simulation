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本演示稿依据用户提出的五阶段目标流程组织。PEM 项目与仿真视频作为示例素材，不代表五个阶段均已完成。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来源：Mujoco/PEM Project 下的两个视频、三个 PDF 与 tray.stl。示例目标依据 Mujoco/README.md 当前 PEM 搬运演示；从阳极/阴极 tray 取单片再叠到装配 tray 的工序尚未实现。PoC 最终范围由工程师确认。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画面均从用户指定 Mujoco/renders/pem_overview.mp4 提取。当前示例是四叠极片从边桌送入阳极/阴极 tray，夹具返回。基线目标是完整覆盖约定 PoC 范围。现有夹具、边桌、片数等包含设计假设，需后续工程验证。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本页展示用户规划的 GPT Astra 接入与优化方法，不声称当前已接通或取得优化收益。候选方向仅为举例，不填入未测量的性能数字。控制通过仿真动作与参数接口执行；评价条件由项目需求与工程师共同确定。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现场图片来自项目参考视频，并非本方案机器人已在真实工位完成作业的证据。此阶段为目标流程。验收建议覆盖完整动作链、重复成功率、位置误差与节拍，具体阈值由工程师与 PoC 需求确定。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本页使用用户提供截图对应的原始 PNG。目标是在项目记录范围内保留模型全部调整历史，以及工程师所有参与环节的相关对话，并归纳为两类经验。当前截图说明的是显式会话绑定、持久文件与交接机制；每个新会话需要主动绑定，暂停和不记录指令仍然生效。它不代表已有后台自动记录服务，也不证明已实现自动经验提炼或模型权重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截图来自用户指定 Screenshot from 2026-09-14 17-22-42.png，原样插入。右侧是对截图的人工提炼示例，不声称项目已自动完成经验提取。截图中的三份 PDF 共四页核对结果属于对话记录，本演示制作未独立复核该结论。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Self-evolving 在本流程中指项目历史和工程知识的总结与复用，不默认涉及模型重新训练。所有流程阶段和英文术语依据用户提供的 pipeline。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PIPELINE OVERVIEW  /  以 PEM 项目为例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AI 驱动的机器人 PoC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从项目理解、仿真优化，到现场验证与经验回流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3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01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先跑通，再优化；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在现场验证中积累经验。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6908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9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大模型负责理解、试验与记录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9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工程师负责评价、校准与验收</a:t>
            </a:r>
          </a:p>
        </p:txBody>
      </p:sp>
      <p:pic>
        <p:nvPicPr>
          <p:cNvPr id="10" name="Picture 9" descr="sim_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40280"/>
            <a:ext cx="7132320" cy="40119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632764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PEM 仿真视频截帧 · pem_overview.mp4 · 02:20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720840"/>
            <a:ext cx="2532888" cy="758952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6821424"/>
            <a:ext cx="393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6803136"/>
            <a:ext cx="1828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理解需求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72054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8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In-context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6720840"/>
            <a:ext cx="2532888" cy="758952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6821424"/>
            <a:ext cx="393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6803136"/>
            <a:ext cx="1828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建立基线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72054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8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Self-correction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6720840"/>
            <a:ext cx="2532888" cy="758952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6821424"/>
            <a:ext cx="393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6803136"/>
            <a:ext cx="1828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迭代优化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72054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8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Self-refining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9951" y="6720840"/>
            <a:ext cx="2532888" cy="758952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6821424"/>
            <a:ext cx="393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6803136"/>
            <a:ext cx="1828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现场验证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72054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8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Real-world 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66576" y="6720840"/>
            <a:ext cx="2532888" cy="758952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85448" y="6821424"/>
            <a:ext cx="393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9224" y="6803136"/>
            <a:ext cx="1828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沉淀经验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9224" y="72054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8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Self-evolving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01  /  IN-CONTEXT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把视频与项目文件，转成可执行的 PoC 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读懂动作、对象与工程约束，明确这一次需要跑通什么。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D8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02 / 08</a:t>
            </a:r>
          </a:p>
        </p:txBody>
      </p:sp>
      <p:pic>
        <p:nvPicPr>
          <p:cNvPr id="8" name="Picture 7" descr="real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4663440" cy="26231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02005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2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现场动作参考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2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Video_Stacker.mp4 · 00:08</a:t>
            </a:r>
          </a:p>
        </p:txBody>
      </p:sp>
      <p:pic>
        <p:nvPicPr>
          <p:cNvPr id="10" name="Picture 9" descr="measur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31720"/>
            <a:ext cx="4069080" cy="2295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9552" y="4782312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尺寸与空间关系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1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20260906 Measurements.pdf · 第 1 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331720"/>
            <a:ext cx="41148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5237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输入清单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3163824"/>
            <a:ext cx="365760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视频  ·  Video_Stacker / Fremdvideo Stacker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图纸  ·  测量图 / 阳极片 / 阴极片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CAD  ·  tray.stl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提取  ·  动作顺序 / 几何 / 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25312"/>
            <a:ext cx="13350240" cy="1426464"/>
          </a:xfrm>
          <a:prstGeom prst="roundRect">
            <a:avLst>
              <a:gd name="adj" fmla="val 10000"/>
            </a:avLst>
          </a:prstGeom>
          <a:solidFill>
            <a:srgbClr val="D5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6080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输出：PoC 任务书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6080760"/>
            <a:ext cx="10469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0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示例目标：从边桌取极片叠，搬运至对应 tray，并将夹具归位。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6729984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描述清楚起点、终点、动作顺序和验收条件；缺失参数列为待确认项。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02  /  SELF-CORRECTION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依据 CAD 搭建场景，先完成一条端到端流程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PoC 描述 + 几何与尺寸 → simulation 场景 → 执行、发现问题、修正 →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D8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03 / 08</a:t>
            </a:r>
          </a:p>
        </p:txBody>
      </p:sp>
      <p:pic>
        <p:nvPicPr>
          <p:cNvPr id="8" name="Picture 7" descr="sim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4315968" cy="2427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65192"/>
            <a:ext cx="43159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9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取料端作业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31536"/>
            <a:ext cx="43159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pem_overview.mp4  /  00:15</a:t>
            </a:r>
          </a:p>
        </p:txBody>
      </p:sp>
      <p:pic>
        <p:nvPicPr>
          <p:cNvPr id="11" name="Picture 10" descr="sim_1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377440"/>
            <a:ext cx="4315968" cy="24277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57216" y="4965192"/>
            <a:ext cx="43159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9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工位侧作业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5431536"/>
            <a:ext cx="43159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pem_overview.mp4  /  02:20</a:t>
            </a:r>
          </a:p>
        </p:txBody>
      </p:sp>
      <p:pic>
        <p:nvPicPr>
          <p:cNvPr id="14" name="Picture 13" descr="sim_2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2" y="2377440"/>
            <a:ext cx="4315968" cy="24277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74352" y="4965192"/>
            <a:ext cx="43159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9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流程末段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4352" y="5431536"/>
            <a:ext cx="43159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pem_overview.mp4  /  03:45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6080760"/>
            <a:ext cx="84124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245352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9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自纠正循环：执行 → 观察偏差 → 修正 → 重跑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7665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对照 PoC 检查尺寸、碰撞、可达性、动作顺序与落位结果。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6080760"/>
            <a:ext cx="4709160" cy="1188720"/>
          </a:xfrm>
          <a:prstGeom prst="roundRect">
            <a:avLst>
              <a:gd name="adj" fmla="val 10000"/>
            </a:avLst>
          </a:prstGeom>
          <a:solidFill>
            <a:srgbClr val="D5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6245352"/>
            <a:ext cx="42976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9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输出：可复现的优化基线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76656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场景 + 动作脚本 + 参数 + 运行记录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03  /  SELF-REFINING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让 GPT Astra 控制仿真，枚举方案并迭代优化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以同一 baseline 和验收要求比较候选方案，工程师参与评价、筛选与微调。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D8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04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136392" cy="1444752"/>
          </a:xfrm>
          <a:prstGeom prst="roundRect">
            <a:avLst>
              <a:gd name="adj" fmla="val 10000"/>
            </a:avLst>
          </a:prstGeom>
          <a:solidFill>
            <a:srgbClr val="D5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054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2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GPT Astra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729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提出方案 / 修改参数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77977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2331720"/>
            <a:ext cx="3136392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5054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2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1729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执行动作 / 返回观测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77977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3216" y="2331720"/>
            <a:ext cx="3136392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25054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2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结果对比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31729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节拍 / 误差 / 稳定性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25328" y="277977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44784" y="2331720"/>
            <a:ext cx="3136392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55096" y="25054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2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工程师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55096" y="31729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评价 / 约束 / 微调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86784"/>
            <a:ext cx="12984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回到下一轮：保留有效改动，失败方案记录原因，更新搜索方向。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00016"/>
            <a:ext cx="4315968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700016"/>
            <a:ext cx="41148" cy="265176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855464"/>
            <a:ext cx="391363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候选 A  /  动作路径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266944"/>
            <a:ext cx="39136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2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调整路径与停靠点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5888736"/>
            <a:ext cx="391363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减少绕行和重复动作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检查可达性与碰撞余量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57216" y="4700016"/>
            <a:ext cx="4315968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57216" y="4700016"/>
            <a:ext cx="41148" cy="265176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8384" y="4855464"/>
            <a:ext cx="391363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候选 B  /  控制参数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8384" y="5266944"/>
            <a:ext cx="39136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2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调整速度与落位策略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888736"/>
            <a:ext cx="391363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比较节拍和落位误差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检查重复执行的稳定性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74352" y="4700016"/>
            <a:ext cx="4315968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74352" y="4700016"/>
            <a:ext cx="41148" cy="265176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4855464"/>
            <a:ext cx="391363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候选 C  /  工程方案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266944"/>
            <a:ext cx="39136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2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调整夹具或工位布局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5888736"/>
            <a:ext cx="391363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在仿真中验证候选设计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由工程师评价制造与实施成本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04  /  REAL-WORLD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把仿真最终方案，放到实际 PoC 场景验证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工程师参与现场运行、硬件调整和验收；现场偏差反馈到仿真继续修正。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D8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05 / 08</a:t>
            </a:r>
          </a:p>
        </p:txBody>
      </p:sp>
      <p:pic>
        <p:nvPicPr>
          <p:cNvPr id="8" name="Picture 7" descr="sim_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4892040" cy="2751772"/>
          </a:xfrm>
          <a:prstGeom prst="rect">
            <a:avLst/>
          </a:prstGeom>
        </p:spPr>
      </p:pic>
      <p:pic>
        <p:nvPicPr>
          <p:cNvPr id="9" name="Picture 8" descr="real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377440"/>
            <a:ext cx="4892040" cy="27517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52669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仿真候选方案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52669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PEM 现场参考画面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569671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Video_Stacker.mp4 · 00:16；用于说明目标场景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08792" y="2377440"/>
            <a:ext cx="3081528" cy="3776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28248" y="2606040"/>
            <a:ext cx="2679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0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工程师现场参与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8248" y="3264408"/>
            <a:ext cx="26517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01  标定坐标与尺寸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02  调整夹具与硬件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03  重复运行并验收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04  记录偏差与原因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537960"/>
            <a:ext cx="13350240" cy="822960"/>
          </a:xfrm>
          <a:prstGeom prst="roundRect">
            <a:avLst>
              <a:gd name="adj" fmla="val 10000"/>
            </a:avLst>
          </a:prstGeom>
          <a:solidFill>
            <a:srgbClr val="D5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6729984"/>
            <a:ext cx="12893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输出：现场验证通过的方案 + 硬件配置 + 验收记录；不通过则带着偏差回到仿真。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05  /  SELF-EVOLVING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记录每次调整与工程师参与，沉淀两类经验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D8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06 / 08</a:t>
            </a:r>
          </a:p>
        </p:txBody>
      </p:sp>
      <p:pic>
        <p:nvPicPr>
          <p:cNvPr id="7" name="Picture 6" descr="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46504"/>
            <a:ext cx="11155680" cy="34244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5257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2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现有项目会话记录机制示例：进入项目、恢复进度、保存交接、按项目归档。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79008"/>
            <a:ext cx="6547104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934456"/>
            <a:ext cx="6089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0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软件层面经验  /  模型调整历史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510528"/>
            <a:ext cx="60899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改了什么 → 为什么改 → 测试结果 → 可复用策略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覆盖场景、脚本、参数和失败修正。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5779008"/>
            <a:ext cx="6583680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5934456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000" b="1">
                <a:solidFill>
                  <a:srgbClr val="C66736"/>
                </a:solidFill>
                <a:latin typeface="Noto Sans CJK SC"/>
              </a:defRPr>
            </a:pPr>
            <a:r>
              <a:rPr>
                <a:ea typeface="Noto Sans CJK SC"/>
              </a:rPr>
              <a:t>实际工程经验  /  工程师参与对话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6510528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现场问题 → 工程判断 → 硬件调整 → 验证结论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4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沉淀约束、校准方法和适用条件。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05  /  SELF-EVOLVING · 工程师对话示例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把工程师的判断，保留为有依据的项目经验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从一段实际交互中，提炼变更、理由、证据和下一步行动。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D8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07 / 08</a:t>
            </a:r>
          </a:p>
        </p:txBody>
      </p:sp>
      <p:pic>
        <p:nvPicPr>
          <p:cNvPr id="8" name="Picture 7" descr="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0864"/>
            <a:ext cx="8001000" cy="43572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821424"/>
            <a:ext cx="795527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0">
                <a:solidFill>
                  <a:srgbClr val="62747A"/>
                </a:solidFill>
                <a:latin typeface="Noto Sans CJK SC"/>
              </a:defRPr>
            </a:pPr>
            <a:r>
              <a:rPr>
                <a:ea typeface="Noto Sans CJK SC"/>
              </a:rPr>
              <a:t>PEM 项目实际对话截图 · 恢复进度、替换模型、核对尺寸依据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340864"/>
            <a:ext cx="498348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3728" y="2560320"/>
            <a:ext cx="4480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21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这段对话值得记住什么？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3300984"/>
            <a:ext cx="4480560" cy="3264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变更事实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Magazin.STEP 替换为 tray.stl。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工程指令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核对 tray、工位和工件尺寸。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证据要求</a:t>
            </a:r>
          </a:p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172B35"/>
                </a:solidFill>
                <a:latin typeface="Noto Sans CJK SC"/>
              </a:defRPr>
            </a:pPr>
            <a:r>
              <a:rPr>
                <a:ea typeface="Noto Sans CJK SC"/>
              </a:rPr>
              <a:t>每项结论附 PDF 页码或模型依据。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7306056"/>
            <a:ext cx="1307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300" b="1">
                <a:solidFill>
                  <a:srgbClr val="007E80"/>
                </a:solidFill>
                <a:latin typeface="Noto Sans CJK SC"/>
              </a:defRPr>
            </a:pPr>
            <a:r>
              <a:rPr>
                <a:ea typeface="Noto Sans CJK SC"/>
              </a:rPr>
              <a:t>经验提炼示例：记录模型版本变化与尺寸依据，供后续场景修正和项目交接复用。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CLOSING THE LOOP  /  从一次演示到可复用能力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344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让每一次 PoC，都成为下一次的起点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6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五个阶段各有交付物；经验回流到下一次项目理解、基线构建与方案优化。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35824"/>
            <a:ext cx="13441680" cy="13716"/>
          </a:xfrm>
          <a:prstGeom prst="rect">
            <a:avLst/>
          </a:prstGeom>
          <a:solidFill>
            <a:srgbClr val="3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863840"/>
            <a:ext cx="1188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9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PEM PROJECT  /  AI × SIMULATION ×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68528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0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3350240" cy="594360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054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8716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理解需求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0545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PoC 任务书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523744"/>
            <a:ext cx="3840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目标与约束清楚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13350240" cy="594360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186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040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建立基线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1868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可复现的完整流程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236976"/>
            <a:ext cx="3840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约定范围内跑通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22191"/>
            <a:ext cx="13350240" cy="594360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13631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迭代优化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31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候选比较与最终方案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950207"/>
            <a:ext cx="3840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工程师评价通过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35424"/>
            <a:ext cx="13350240" cy="594360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45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62686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现场验证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64515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实测结果与硬件配置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663440"/>
            <a:ext cx="3840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实际场景验收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48656"/>
            <a:ext cx="13350240" cy="594360"/>
          </a:xfrm>
          <a:prstGeom prst="roundRect">
            <a:avLst>
              <a:gd name="adj" fmla="val 10000"/>
            </a:avLst>
          </a:prstGeom>
          <a:solidFill>
            <a:srgbClr val="21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583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1">
                <a:solidFill>
                  <a:srgbClr val="7ADBC6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34009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沉淀经验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3583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软件经验 + 工程经验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5376672"/>
            <a:ext cx="3840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5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可追溯、可检索、可复用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245352"/>
            <a:ext cx="13350240" cy="704088"/>
          </a:xfrm>
          <a:prstGeom prst="roundRect">
            <a:avLst>
              <a:gd name="adj" fmla="val 10000"/>
            </a:avLst>
          </a:prstGeom>
          <a:solidFill>
            <a:srgbClr val="7AD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6419088"/>
            <a:ext cx="128747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800" b="1">
                <a:solidFill>
                  <a:srgbClr val="122A35"/>
                </a:solidFill>
                <a:latin typeface="Noto Sans CJK SC"/>
              </a:defRPr>
            </a:pPr>
            <a:r>
              <a:rPr>
                <a:ea typeface="Noto Sans CJK SC"/>
              </a:rPr>
              <a:t>经验回流  →  下一次 In-context learning  →  更好的 baseline  →  更有依据的优化与验证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7251192"/>
            <a:ext cx="1325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  <a:defRPr sz="1100" b="0">
                <a:solidFill>
                  <a:srgbClr val="BBD0D2"/>
                </a:solidFill>
                <a:latin typeface="Noto Sans CJK SC"/>
              </a:defRPr>
            </a:pPr>
            <a:r>
              <a:rPr>
                <a:ea typeface="Noto Sans CJK SC"/>
              </a:rPr>
              <a:t>本稿以现有 PEM 素材说明目标流程；优化接入、真机验收与经验复用的完成状态以实际验证为准。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驱动的机器人 PoC Pipeline — PEM 项目示例</dc:title>
  <dc:subject>项目理解、仿真基线、自我优化、现场验证与经验沉淀</dc:subject>
  <dc:creator/>
  <cp:keywords>PEM, PoC, Simulation, Pipeline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